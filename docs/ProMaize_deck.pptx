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87" r:id="rId4"/>
  </p:sldMasterIdLst>
  <p:notesMasterIdLst>
    <p:notesMasterId r:id="rId16"/>
  </p:notesMasterIdLst>
  <p:sldIdLst>
    <p:sldId id="271" r:id="rId5"/>
    <p:sldId id="609" r:id="rId6"/>
    <p:sldId id="601" r:id="rId7"/>
    <p:sldId id="604" r:id="rId8"/>
    <p:sldId id="602" r:id="rId9"/>
    <p:sldId id="598" r:id="rId10"/>
    <p:sldId id="599" r:id="rId11"/>
    <p:sldId id="600" r:id="rId12"/>
    <p:sldId id="603" r:id="rId13"/>
    <p:sldId id="607" r:id="rId14"/>
    <p:sldId id="263" r:id="rId15"/>
  </p:sldIdLst>
  <p:sldSz cx="12192000" cy="6858000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480" userDrawn="1">
          <p15:clr>
            <a:srgbClr val="A4A3A4"/>
          </p15:clr>
        </p15:guide>
        <p15:guide id="3" pos="7200" userDrawn="1">
          <p15:clr>
            <a:srgbClr val="A4A3A4"/>
          </p15:clr>
        </p15:guide>
        <p15:guide id="4" pos="436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208"/>
    <a:srgbClr val="C5E6C1"/>
    <a:srgbClr val="B5D4B2"/>
    <a:srgbClr val="084E08"/>
    <a:srgbClr val="D00000"/>
    <a:srgbClr val="9D2135"/>
    <a:srgbClr val="ECD4D8"/>
    <a:srgbClr val="293F11"/>
    <a:srgbClr val="0C5742"/>
    <a:srgbClr val="29A7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2221A9-9BE9-4651-B7F2-342A0E2C5784}" v="1" dt="2026-09-25T14:02:02.10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7102" autoAdjust="0"/>
    <p:restoredTop sz="86370" autoAdjust="0"/>
  </p:normalViewPr>
  <p:slideViewPr>
    <p:cSldViewPr snapToGrid="0">
      <p:cViewPr varScale="1">
        <p:scale>
          <a:sx n="94" d="100"/>
          <a:sy n="94" d="100"/>
        </p:scale>
        <p:origin x="96" y="264"/>
      </p:cViewPr>
      <p:guideLst>
        <p:guide orient="horz" pos="2160"/>
        <p:guide pos="480"/>
        <p:guide pos="7200"/>
        <p:guide pos="43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94" d="100"/>
        <a:sy n="94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5/10/relationships/revisionInfo" Target="revisionInfo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Forward accuracy (r), each year's new families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ProMaize</c:v>
                </c:pt>
              </c:strCache>
            </c:strRef>
          </c:tx>
          <c:spPr>
            <a:solidFill>
              <a:srgbClr val="2E7D5B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0.192</c:v>
                </c:pt>
                <c:pt idx="1">
                  <c:v>0.169</c:v>
                </c:pt>
                <c:pt idx="2">
                  <c:v>0.312</c:v>
                </c:pt>
                <c:pt idx="3">
                  <c:v>0.295</c:v>
                </c:pt>
                <c:pt idx="4">
                  <c:v>0.207</c:v>
                </c:pt>
                <c:pt idx="5">
                  <c:v>0.132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standard GBLUP</c:v>
                </c:pt>
              </c:strCache>
            </c:strRef>
          </c:tx>
          <c:spPr>
            <a:solidFill>
              <a:srgbClr val="6B7B8C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0.188</c:v>
                </c:pt>
                <c:pt idx="1">
                  <c:v>0.102</c:v>
                </c:pt>
                <c:pt idx="2">
                  <c:v>0.263</c:v>
                </c:pt>
                <c:pt idx="3">
                  <c:v>0.211</c:v>
                </c:pt>
                <c:pt idx="4">
                  <c:v>0.074</c:v>
                </c:pt>
                <c:pt idx="5">
                  <c:v>0.065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pedigree BLUP</c:v>
                </c:pt>
              </c:strCache>
            </c:strRef>
          </c:tx>
          <c:spPr>
            <a:solidFill>
              <a:srgbClr val="C97B2C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0.059</c:v>
                </c:pt>
                <c:pt idx="1">
                  <c:v>0.006</c:v>
                </c:pt>
                <c:pt idx="2">
                  <c:v>0.129</c:v>
                </c:pt>
                <c:pt idx="3">
                  <c:v>0.103</c:v>
                </c:pt>
                <c:pt idx="4">
                  <c:v>0.006</c:v>
                </c:pt>
                <c:pt idx="5">
                  <c:v>0.048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400">
          <a:solidFill>
            <a:srgbClr val="222222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>
            <a:extLst>
              <a:ext uri="{FF2B5EF4-FFF2-40B4-BE49-F238E27FC236}">
                <a16:creationId xmlns:a16="http://schemas.microsoft.com/office/drawing/2014/main" id="{D9F622F8-1824-4338-8C3C-5529D3BDEF4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Arial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0723" name="Rectangle 3">
            <a:extLst>
              <a:ext uri="{FF2B5EF4-FFF2-40B4-BE49-F238E27FC236}">
                <a16:creationId xmlns:a16="http://schemas.microsoft.com/office/drawing/2014/main" id="{618DDD53-BB38-4118-BC75-9CE27D49C550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 smtClean="0">
                <a:latin typeface="Arial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4340" name="Rectangle 4">
            <a:extLst>
              <a:ext uri="{FF2B5EF4-FFF2-40B4-BE49-F238E27FC236}">
                <a16:creationId xmlns:a16="http://schemas.microsoft.com/office/drawing/2014/main" id="{6C03B6F7-B1AE-4118-ABA2-FFEC9B8F0E9C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0725" name="Rectangle 5">
            <a:extLst>
              <a:ext uri="{FF2B5EF4-FFF2-40B4-BE49-F238E27FC236}">
                <a16:creationId xmlns:a16="http://schemas.microsoft.com/office/drawing/2014/main" id="{646F5356-BDE8-43C1-9587-85323D02B191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0726" name="Rectangle 6">
            <a:extLst>
              <a:ext uri="{FF2B5EF4-FFF2-40B4-BE49-F238E27FC236}">
                <a16:creationId xmlns:a16="http://schemas.microsoft.com/office/drawing/2014/main" id="{89912C35-11A9-4DA7-8476-F1823F658CA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Arial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0727" name="Rectangle 7">
            <a:extLst>
              <a:ext uri="{FF2B5EF4-FFF2-40B4-BE49-F238E27FC236}">
                <a16:creationId xmlns:a16="http://schemas.microsoft.com/office/drawing/2014/main" id="{7180ED79-CEC3-4FB9-B511-8597B20A0C1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6DEB7EE2-04A2-4FB2-9625-C9C73AC4D32F}" type="slidenum">
              <a:rPr lang="en-US" altLang="en-US"/>
              <a:pPr/>
              <a:t>‹#›</a:t>
            </a:fld>
            <a:endParaRPr lang="en-US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EB7EE2-04A2-4FB2-9625-C9C73AC4D32F}" type="slidenum">
              <a:rPr lang="en-US" altLang="en-US" smtClean="0"/>
              <a:pPr/>
              <a:t>1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3101519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F26C7-E744-0B31-3F6D-6EA4A5CF2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FC5EA89-9A34-6F39-F57E-5829625915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27930B1-FF3A-5FC7-D8D5-FC063CCEA2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9EC3D13-D327-7C39-C637-1A2032A331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EB7EE2-04A2-4FB2-9625-C9C73AC4D32F}" type="slidenum">
              <a:rPr lang="en-US" altLang="en-US" smtClean="0"/>
              <a:pPr/>
              <a:t>10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8815138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5FCE86C-741C-3F06-0C45-5E281F7D4B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68000"/>
          </a:blip>
          <a:srcRect/>
          <a:stretch/>
        </p:blipFill>
        <p:spPr>
          <a:xfrm>
            <a:off x="1" y="0"/>
            <a:ext cx="12161694" cy="685523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4942C4-35D6-11EB-990C-9F5F325E7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5301" y="4072285"/>
            <a:ext cx="9141397" cy="830997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5400" b="1" i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70314A8-513A-A2AA-A1DA-F88074FFF1C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96307" y="5249751"/>
            <a:ext cx="7799387" cy="1534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32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22113650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Opening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942C4-35D6-11EB-990C-9F5F325E7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5301" y="4072285"/>
            <a:ext cx="9141397" cy="830997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5400" b="1" i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70314A8-513A-A2AA-A1DA-F88074FFF1C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96307" y="5249751"/>
            <a:ext cx="7799387" cy="1534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32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17214149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Content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9D4F4BA-A03B-8352-9AD6-4E253EDDF9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68000"/>
          </a:blip>
          <a:srcRect/>
          <a:stretch/>
        </p:blipFill>
        <p:spPr>
          <a:xfrm>
            <a:off x="1" y="0"/>
            <a:ext cx="12161694" cy="685523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863B2E7-5DB8-289F-4FA0-1770FB23EB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389205" y="823966"/>
            <a:ext cx="9431195" cy="5054320"/>
          </a:xfrm>
          <a:prstGeom prst="rect">
            <a:avLst/>
          </a:prstGeom>
          <a:solidFill>
            <a:srgbClr val="0082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DDB9EB0-5E45-9A23-8B2B-063A1E51A4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5301" y="2040651"/>
            <a:ext cx="9141397" cy="738664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800" b="1" i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2DBAE11-7B48-4B93-9228-0AE76C5D406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96307" y="3429000"/>
            <a:ext cx="7799387" cy="1534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24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14406792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8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son Tex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940F43D-7CF1-F239-6F90-5224D1F90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2191999" cy="685800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0FD0411B-CFF2-1F67-3B53-26B196C536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3"/>
            <a:ext cx="5334000" cy="118903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spcBef>
                <a:spcPts val="1000"/>
              </a:spcBef>
              <a:defRPr sz="4000" b="1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7" name="Text Placeholder 15">
            <a:extLst>
              <a:ext uri="{FF2B5EF4-FFF2-40B4-BE49-F238E27FC236}">
                <a16:creationId xmlns:a16="http://schemas.microsoft.com/office/drawing/2014/main" id="{BA735CC3-5689-87CB-76FF-182A0FFE972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905000"/>
            <a:ext cx="5334000" cy="32766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29A7D9"/>
              </a:buClr>
              <a:buNone/>
              <a:defRPr sz="1800" b="1"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32408829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2243" userDrawn="1">
          <p15:clr>
            <a:srgbClr val="5ACBF0"/>
          </p15:clr>
        </p15:guide>
        <p15:guide id="4" orient="horz" pos="2488" userDrawn="1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Ope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8048D-D6DE-D39A-61E5-058F2C9D086D}"/>
              </a:ext>
            </a:extLst>
          </p:cNvPr>
          <p:cNvSpPr txBox="1">
            <a:spLocks/>
          </p:cNvSpPr>
          <p:nvPr userDrawn="1"/>
        </p:nvSpPr>
        <p:spPr>
          <a:xfrm>
            <a:off x="762000" y="1090715"/>
            <a:ext cx="6972925" cy="1189038"/>
          </a:xfrm>
          <a:prstGeom prst="rect">
            <a:avLst/>
          </a:prstGeom>
        </p:spPr>
        <p:txBody>
          <a:bodyPr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ts val="1000"/>
              </a:spcBef>
              <a:buNone/>
              <a:defRPr sz="4000" b="1" kern="1200">
                <a:solidFill>
                  <a:srgbClr val="0C5742"/>
                </a:solidFill>
                <a:latin typeface="Helvetica" pitchFamily="2" charset="0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</a:pPr>
            <a:r>
              <a:rPr lang="en-US" sz="4400" dirty="0">
                <a:solidFill>
                  <a:srgbClr val="008208"/>
                </a:solidFill>
              </a:rPr>
              <a:t>Insert title here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D8CFFBC-511A-0C92-49CD-B6F380B6DC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52593" y="4795462"/>
            <a:ext cx="38862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7014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15">
            <a:extLst>
              <a:ext uri="{FF2B5EF4-FFF2-40B4-BE49-F238E27FC236}">
                <a16:creationId xmlns:a16="http://schemas.microsoft.com/office/drawing/2014/main" id="{08B2D19A-57EF-534C-AD32-F0D267DF02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83905" y="4395135"/>
            <a:ext cx="3094299" cy="82504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bg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C006248-5E16-F67D-B71E-6B380DF3D7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68785" y="1397292"/>
            <a:ext cx="2916820" cy="2916820"/>
          </a:xfrm>
          <a:prstGeom prst="ellipse">
            <a:avLst/>
          </a:prstGeom>
          <a:solidFill>
            <a:srgbClr val="0082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BC867410-0A07-C967-94EF-6A02F12A578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3905" y="2285999"/>
            <a:ext cx="3094299" cy="412524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A1F9D231-F2D1-C037-D6ED-17A80599979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80045" y="2757317"/>
            <a:ext cx="3094299" cy="1441046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tx1"/>
                </a:solidFill>
                <a:latin typeface="Georgia" panose="02040502050405020303" pitchFamily="18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B50A50D-6D2E-33DB-B978-E99B9EF8D8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90223" y="826518"/>
            <a:ext cx="1266970" cy="1266970"/>
          </a:xfrm>
          <a:prstGeom prst="ellipse">
            <a:avLst/>
          </a:prstGeom>
          <a:solidFill>
            <a:schemeClr val="tx1"/>
          </a:solidFill>
          <a:ln w="76200">
            <a:solidFill>
              <a:srgbClr val="084E0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22" name="Text Placeholder 15">
            <a:extLst>
              <a:ext uri="{FF2B5EF4-FFF2-40B4-BE49-F238E27FC236}">
                <a16:creationId xmlns:a16="http://schemas.microsoft.com/office/drawing/2014/main" id="{94546806-FD1F-3095-4CE8-6A3A1FCC7A2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52710" y="4395135"/>
            <a:ext cx="3094299" cy="82504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bg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0A7592EE-5333-BBDF-A3DE-6CD9F1728D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37590" y="1397292"/>
            <a:ext cx="2916820" cy="2916820"/>
          </a:xfrm>
          <a:prstGeom prst="ellipse">
            <a:avLst/>
          </a:prstGeom>
          <a:solidFill>
            <a:srgbClr val="0082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24" name="Text Placeholder 15">
            <a:extLst>
              <a:ext uri="{FF2B5EF4-FFF2-40B4-BE49-F238E27FC236}">
                <a16:creationId xmlns:a16="http://schemas.microsoft.com/office/drawing/2014/main" id="{F450DC39-19DD-D8EC-3907-71DA9F2D6DC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52710" y="2285999"/>
            <a:ext cx="3094299" cy="412524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5" name="Text Placeholder 15">
            <a:extLst>
              <a:ext uri="{FF2B5EF4-FFF2-40B4-BE49-F238E27FC236}">
                <a16:creationId xmlns:a16="http://schemas.microsoft.com/office/drawing/2014/main" id="{B82E7BB7-FA61-15D2-DA1C-D21DA32C056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48850" y="2757317"/>
            <a:ext cx="3094299" cy="1441046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tx1"/>
                </a:solidFill>
                <a:latin typeface="Georgia" panose="02040502050405020303" pitchFamily="18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2135A5B3-8581-4475-6EA2-AB71764143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458654" y="835616"/>
            <a:ext cx="1266970" cy="1266970"/>
          </a:xfrm>
          <a:prstGeom prst="ellipse">
            <a:avLst/>
          </a:prstGeom>
          <a:solidFill>
            <a:schemeClr val="tx1"/>
          </a:solidFill>
          <a:ln w="76200">
            <a:solidFill>
              <a:srgbClr val="084E0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28" name="Text Placeholder 15">
            <a:extLst>
              <a:ext uri="{FF2B5EF4-FFF2-40B4-BE49-F238E27FC236}">
                <a16:creationId xmlns:a16="http://schemas.microsoft.com/office/drawing/2014/main" id="{A305AB87-D4E0-5BEE-F34E-4EE5194EF42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413796" y="4395135"/>
            <a:ext cx="3094299" cy="82504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bg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F9617A6-EF65-8408-C2D4-CB299E326D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98676" y="1397292"/>
            <a:ext cx="2916820" cy="2916820"/>
          </a:xfrm>
          <a:prstGeom prst="ellipse">
            <a:avLst/>
          </a:prstGeom>
          <a:solidFill>
            <a:srgbClr val="0082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30" name="Text Placeholder 15">
            <a:extLst>
              <a:ext uri="{FF2B5EF4-FFF2-40B4-BE49-F238E27FC236}">
                <a16:creationId xmlns:a16="http://schemas.microsoft.com/office/drawing/2014/main" id="{2CDADD79-27CC-560B-4E51-278843FC478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413796" y="2285999"/>
            <a:ext cx="3094299" cy="412524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31" name="Text Placeholder 15">
            <a:extLst>
              <a:ext uri="{FF2B5EF4-FFF2-40B4-BE49-F238E27FC236}">
                <a16:creationId xmlns:a16="http://schemas.microsoft.com/office/drawing/2014/main" id="{FEA8AD93-186A-47F5-F3CC-EE490126A30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409936" y="2757317"/>
            <a:ext cx="3094299" cy="1441046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tx1"/>
                </a:solidFill>
                <a:latin typeface="Georgia" panose="02040502050405020303" pitchFamily="18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C3984AD4-986C-D2DB-1E89-7353A94CAF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320114" y="826518"/>
            <a:ext cx="1266970" cy="1266970"/>
          </a:xfrm>
          <a:prstGeom prst="ellipse">
            <a:avLst/>
          </a:prstGeom>
          <a:solidFill>
            <a:schemeClr val="tx1"/>
          </a:solidFill>
          <a:ln w="76200">
            <a:solidFill>
              <a:srgbClr val="084E0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6E48ADF-145B-0619-F641-8FB27799E0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30488"/>
          <a:stretch>
            <a:fillRect/>
          </a:stretch>
        </p:blipFill>
        <p:spPr>
          <a:xfrm>
            <a:off x="-2" y="5745892"/>
            <a:ext cx="12192002" cy="112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41859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Connectivity We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6">
            <a:extLst>
              <a:ext uri="{FF2B5EF4-FFF2-40B4-BE49-F238E27FC236}">
                <a16:creationId xmlns:a16="http://schemas.microsoft.com/office/drawing/2014/main" id="{3A82D859-AED3-485F-A04E-40320B1043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" y="-14317"/>
            <a:ext cx="12191997" cy="6872316"/>
          </a:xfrm>
          <a:prstGeom prst="rect">
            <a:avLst/>
          </a:prstGeom>
        </p:spPr>
      </p:pic>
      <p:sp>
        <p:nvSpPr>
          <p:cNvPr id="8" name="Title 2">
            <a:extLst>
              <a:ext uri="{FF2B5EF4-FFF2-40B4-BE49-F238E27FC236}">
                <a16:creationId xmlns:a16="http://schemas.microsoft.com/office/drawing/2014/main" id="{50E836D7-C5CD-44D2-FE9D-F5CA7EFB79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1"/>
            <a:ext cx="6477000" cy="1189037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spcBef>
                <a:spcPts val="1000"/>
              </a:spcBef>
              <a:defRPr sz="4000" b="1" spc="-50" baseline="0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75B01814-8239-0919-700D-E0794C8525D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904999"/>
            <a:ext cx="6477000" cy="423703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9D2135"/>
              </a:buClr>
              <a:buNone/>
              <a:defRPr sz="1800" b="1">
                <a:solidFill>
                  <a:schemeClr val="bg1"/>
                </a:solidFill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21898761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08" userDrawn="1">
          <p15:clr>
            <a:srgbClr val="5ACBF0"/>
          </p15:clr>
        </p15:guide>
        <p15:guide id="3" orient="horz" pos="2240" userDrawn="1">
          <p15:clr>
            <a:srgbClr val="5ACBF0"/>
          </p15:clr>
        </p15:guide>
        <p15:guide id="4" orient="horz" pos="2487" userDrawn="1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 with Connectivity We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Placeholder 6">
            <a:extLst>
              <a:ext uri="{FF2B5EF4-FFF2-40B4-BE49-F238E27FC236}">
                <a16:creationId xmlns:a16="http://schemas.microsoft.com/office/drawing/2014/main" id="{6AB1B2BA-E0BE-C789-76C0-72FC370341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" y="-14317"/>
            <a:ext cx="12191997" cy="6872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43630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08">
          <p15:clr>
            <a:srgbClr val="5ACBF0"/>
          </p15:clr>
        </p15:guide>
        <p15:guide id="3" orient="horz" pos="2240">
          <p15:clr>
            <a:srgbClr val="5ACBF0"/>
          </p15:clr>
        </p15:guide>
        <p15:guide id="4" orient="horz" pos="2487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5B18A-AEFB-875C-C7B9-854A0F9842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5301" y="1872356"/>
            <a:ext cx="9141397" cy="738664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800" b="1" i="0" kern="1200" cap="none" spc="-50" baseline="0" dirty="0">
                <a:ln w="3175">
                  <a:noFill/>
                </a:ln>
                <a:solidFill>
                  <a:srgbClr val="008208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FDA543F9-0BD6-1A90-DF8A-FC92A799252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96307" y="3260705"/>
            <a:ext cx="7799387" cy="1534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24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Insert content here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B62C41-763D-7638-37CD-0F758ED943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52593" y="4795462"/>
            <a:ext cx="38862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5231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13624-9AD4-4B61-B3D1-7B21213507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4"/>
            <a:ext cx="10591800" cy="646332"/>
          </a:xfrm>
          <a:prstGeom prst="rect">
            <a:avLst/>
          </a:prstGeom>
        </p:spPr>
        <p:txBody>
          <a:bodyPr>
            <a:noAutofit/>
          </a:bodyPr>
          <a:lstStyle>
            <a:lvl1pPr>
              <a:spcBef>
                <a:spcPts val="1000"/>
              </a:spcBef>
              <a:defRPr sz="4000" b="1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3" name="Text Placeholder 15">
            <a:extLst>
              <a:ext uri="{FF2B5EF4-FFF2-40B4-BE49-F238E27FC236}">
                <a16:creationId xmlns:a16="http://schemas.microsoft.com/office/drawing/2014/main" id="{6FB5B90E-10A1-3BED-A513-DD6D4DE5099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432562"/>
            <a:ext cx="10667999" cy="40885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9D2135"/>
              </a:buClr>
              <a:buNone/>
              <a:defRPr sz="1800" b="0">
                <a:solidFill>
                  <a:schemeClr val="bg1"/>
                </a:solidFill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 b="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431942-5744-7420-A4E0-41C0ED4752A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30488"/>
          <a:stretch>
            <a:fillRect/>
          </a:stretch>
        </p:blipFill>
        <p:spPr>
          <a:xfrm>
            <a:off x="-2" y="5745892"/>
            <a:ext cx="12192002" cy="112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29174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1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2">
            <a:extLst>
              <a:ext uri="{FF2B5EF4-FFF2-40B4-BE49-F238E27FC236}">
                <a16:creationId xmlns:a16="http://schemas.microsoft.com/office/drawing/2014/main" id="{3F45076F-4240-4B40-8CE4-637DD751A6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3"/>
            <a:ext cx="5334000" cy="118903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spcBef>
                <a:spcPts val="1000"/>
              </a:spcBef>
              <a:defRPr sz="4000" b="1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8498B63D-F60C-4A9D-8D3E-0C7CD748FED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905000"/>
            <a:ext cx="5334000" cy="32766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29A7D9"/>
              </a:buClr>
              <a:buNone/>
              <a:defRPr sz="1800" b="1"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  <p:sp>
        <p:nvSpPr>
          <p:cNvPr id="2" name="Picture Placeholder 13">
            <a:extLst>
              <a:ext uri="{FF2B5EF4-FFF2-40B4-BE49-F238E27FC236}">
                <a16:creationId xmlns:a16="http://schemas.microsoft.com/office/drawing/2014/main" id="{F722149C-9F53-07F4-F4AE-84EEFFD2623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858000" y="715962"/>
            <a:ext cx="4572000" cy="4465637"/>
          </a:xfrm>
          <a:prstGeom prst="rect">
            <a:avLst/>
          </a:prstGeom>
          <a:solidFill>
            <a:schemeClr val="tx2"/>
          </a:solidFill>
        </p:spPr>
        <p:txBody>
          <a:bodyPr>
            <a:normAutofit/>
          </a:bodyPr>
          <a:lstStyle>
            <a:lvl1pPr algn="ctr">
              <a:buNone/>
              <a:defRPr sz="1600"/>
            </a:lvl1pPr>
          </a:lstStyle>
          <a:p>
            <a:r>
              <a:rPr lang="en-US" dirty="0"/>
              <a:t>Click icon to add picture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07EE72-18FE-1FF5-C146-2B5F46A0F07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30488"/>
          <a:stretch>
            <a:fillRect/>
          </a:stretch>
        </p:blipFill>
        <p:spPr>
          <a:xfrm>
            <a:off x="-2" y="5745892"/>
            <a:ext cx="12192002" cy="112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4722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72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827A95C0-AE8D-46E1-9EF9-64504CBEF99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858000" y="715963"/>
            <a:ext cx="4572000" cy="2155574"/>
          </a:xfrm>
          <a:prstGeom prst="rect">
            <a:avLst/>
          </a:prstGeom>
          <a:solidFill>
            <a:schemeClr val="tx2"/>
          </a:solidFill>
        </p:spPr>
        <p:txBody>
          <a:bodyPr>
            <a:normAutofit/>
          </a:bodyPr>
          <a:lstStyle>
            <a:lvl1pPr algn="ctr">
              <a:buNone/>
              <a:defRPr sz="160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Picture Placeholder 13">
            <a:extLst>
              <a:ext uri="{FF2B5EF4-FFF2-40B4-BE49-F238E27FC236}">
                <a16:creationId xmlns:a16="http://schemas.microsoft.com/office/drawing/2014/main" id="{426CAAF9-6082-7EDB-3BD8-D45AA79D0A7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858000" y="3026026"/>
            <a:ext cx="4572000" cy="2155574"/>
          </a:xfrm>
          <a:prstGeom prst="rect">
            <a:avLst/>
          </a:prstGeom>
          <a:solidFill>
            <a:schemeClr val="tx2"/>
          </a:solidFill>
        </p:spPr>
        <p:txBody>
          <a:bodyPr>
            <a:normAutofit/>
          </a:bodyPr>
          <a:lstStyle>
            <a:lvl1pPr algn="ctr">
              <a:buNone/>
              <a:defRPr sz="1600"/>
            </a:lvl1pPr>
          </a:lstStyle>
          <a:p>
            <a:r>
              <a:rPr lang="en-US" dirty="0"/>
              <a:t>Click icon to add picture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EF9771-D8E2-3BD0-3F5E-6C15075AC40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30488"/>
          <a:stretch>
            <a:fillRect/>
          </a:stretch>
        </p:blipFill>
        <p:spPr>
          <a:xfrm>
            <a:off x="-2" y="5745892"/>
            <a:ext cx="12192002" cy="1124300"/>
          </a:xfrm>
          <a:prstGeom prst="rect">
            <a:avLst/>
          </a:prstGeom>
        </p:spPr>
      </p:pic>
      <p:sp>
        <p:nvSpPr>
          <p:cNvPr id="2" name="Title 2">
            <a:extLst>
              <a:ext uri="{FF2B5EF4-FFF2-40B4-BE49-F238E27FC236}">
                <a16:creationId xmlns:a16="http://schemas.microsoft.com/office/drawing/2014/main" id="{261C1603-F78F-9708-2CCE-C575018AB7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3"/>
            <a:ext cx="5334000" cy="118903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spcBef>
                <a:spcPts val="1000"/>
              </a:spcBef>
              <a:defRPr sz="4000" b="1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3" name="Text Placeholder 15">
            <a:extLst>
              <a:ext uri="{FF2B5EF4-FFF2-40B4-BE49-F238E27FC236}">
                <a16:creationId xmlns:a16="http://schemas.microsoft.com/office/drawing/2014/main" id="{95D9B12A-BDA9-1D99-CD6F-BE757F40D83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905000"/>
            <a:ext cx="5334000" cy="32766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29A7D9"/>
              </a:buClr>
              <a:buNone/>
              <a:defRPr sz="1800" b="1"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32618463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72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0975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2969044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7" r:id="rId1"/>
    <p:sldLayoutId id="2147483711" r:id="rId2"/>
    <p:sldLayoutId id="2147483689" r:id="rId3"/>
    <p:sldLayoutId id="2147483700" r:id="rId4"/>
    <p:sldLayoutId id="2147483706" r:id="rId5"/>
    <p:sldLayoutId id="2147483708" r:id="rId6"/>
    <p:sldLayoutId id="2147483701" r:id="rId7"/>
    <p:sldLayoutId id="2147483710" r:id="rId8"/>
    <p:sldLayoutId id="2147483690" r:id="rId9"/>
    <p:sldLayoutId id="2147483691" r:id="rId10"/>
    <p:sldLayoutId id="2147483705" r:id="rId11"/>
    <p:sldLayoutId id="2147483709" r:id="rId12"/>
    <p:sldLayoutId id="2147483712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01A2729-7D5B-64A4-C0D1-67AD772DA6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 rot="10800000">
            <a:off x="12698" y="-1"/>
            <a:ext cx="12179300" cy="6865159"/>
          </a:xfrm>
          <a:prstGeom prst="rect">
            <a:avLst/>
          </a:prstGeom>
        </p:spPr>
      </p:pic>
      <p:sp>
        <p:nvSpPr>
          <p:cNvPr id="4" name="Title 2">
            <a:extLst>
              <a:ext uri="{FF2B5EF4-FFF2-40B4-BE49-F238E27FC236}">
                <a16:creationId xmlns:a16="http://schemas.microsoft.com/office/drawing/2014/main" id="{E8661BCE-69C4-2BFE-8ABC-E9949B0D46D7}"/>
              </a:ext>
            </a:extLst>
          </p:cNvPr>
          <p:cNvSpPr txBox="1">
            <a:spLocks/>
          </p:cNvSpPr>
          <p:nvPr/>
        </p:nvSpPr>
        <p:spPr>
          <a:xfrm>
            <a:off x="-504330" y="1404412"/>
            <a:ext cx="6920964" cy="1661993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5400" b="1" i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pPr fontAlgn="auto">
              <a:spcAft>
                <a:spcPts val="0"/>
              </a:spcAft>
            </a:pPr>
            <a:r>
              <a:rPr lang="en-US" dirty="0">
                <a:solidFill>
                  <a:srgbClr val="008208"/>
                </a:solidFill>
              </a:rPr>
              <a:t>Purdue</a:t>
            </a:r>
            <a:br>
              <a:rPr lang="en-US" dirty="0">
                <a:solidFill>
                  <a:srgbClr val="008208"/>
                </a:solidFill>
              </a:rPr>
            </a:br>
            <a:r>
              <a:rPr lang="en-US" dirty="0">
                <a:solidFill>
                  <a:srgbClr val="008208"/>
                </a:solidFill>
              </a:rPr>
              <a:t> </a:t>
            </a:r>
            <a:r>
              <a:rPr lang="en-US" dirty="0" err="1">
                <a:solidFill>
                  <a:srgbClr val="008208"/>
                </a:solidFill>
              </a:rPr>
              <a:t>AgHack</a:t>
            </a:r>
            <a:r>
              <a:rPr lang="en-US" dirty="0">
                <a:solidFill>
                  <a:srgbClr val="008208"/>
                </a:solidFill>
              </a:rPr>
              <a:t> 2026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DFD68EB-4F54-F53D-EA6B-15F19F49ACCD}"/>
              </a:ext>
            </a:extLst>
          </p:cNvPr>
          <p:cNvSpPr txBox="1">
            <a:spLocks/>
          </p:cNvSpPr>
          <p:nvPr/>
        </p:nvSpPr>
        <p:spPr>
          <a:xfrm>
            <a:off x="-943542" y="3264709"/>
            <a:ext cx="7799387" cy="109714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32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t>ProMaize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B6219D0-AFB4-D3BE-464C-735DF25625DF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015840" y="246551"/>
            <a:ext cx="5198477" cy="432545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B82C32E-A8BD-12F1-C8DA-45B5610969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940" y="3611586"/>
            <a:ext cx="11980119" cy="3135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656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D6E23-4145-5561-0405-6138C87BB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ABF4A-06D0-9580-CBE3-35CD2699B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/>
              <a:t>Team Intro/Logo</a:t>
            </a:r>
            <a:endParaRPr lang="en-US"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222222"/>
                </a:solidFill>
              </a:defRPr>
            </a:pPr>
            <a:r>
              <a:t>Team ProMaize, Bayer Genomic Prediction track</a:t>
            </a: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  <a:r>
              <a:t>Alexander Baena</a:t>
            </a: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  <a:r>
              <a:t>Sofia Gerena</a:t>
            </a: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  <a:r>
              <a:t>Alen Lizarazo</a:t>
            </a: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  <a:r>
              <a:t>Live demo: promaize.stipe.app</a:t>
            </a:r>
          </a:p>
        </p:txBody>
      </p:sp>
    </p:spTree>
    <p:extLst>
      <p:ext uri="{BB962C8B-B14F-4D97-AF65-F5344CB8AC3E}">
        <p14:creationId xmlns:p14="http://schemas.microsoft.com/office/powerpoint/2010/main" val="3445910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3C051-BC2C-199F-E440-65FA93CBA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 to 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January 2008: the plot budget is cut. 15,962 new lines are waiting.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They come from 157 biparental families that have never been in a field; 24 of those families have neither parent on record.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The field test measures GCA: each line crossed to a tester from the other cluster, ~7 locations.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Every line we cannot test is a line we can never advance. Which ones get the ground?</a:t>
            </a:r>
          </a:p>
          <a:p>
            <a:pPr>
              <a:spcAft>
                <a:spcPts val="800"/>
              </a:spcAft>
              <a:defRPr sz="1900" b="0">
                <a:solidFill>
                  <a:srgbClr val="555555"/>
                </a:solidFill>
              </a:defRPr>
            </a:pPr>
            <a:r>
              <a:t>    - Users: pipeline managers (the budget), population development (which families), field testing (the list).</a:t>
            </a:r>
          </a:p>
        </p:txBody>
      </p:sp>
    </p:spTree>
    <p:extLst>
      <p:ext uri="{BB962C8B-B14F-4D97-AF65-F5344CB8AC3E}">
        <p14:creationId xmlns:p14="http://schemas.microsoft.com/office/powerpoint/2010/main" val="4078269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D1014-E0B2-7CBA-7DE0-F95BE8040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E7DD2-F2AD-1280-FD59-EB7358C74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Rank lines nobody has grown by what they are worth, with an honest error bar.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Predict broad-acre GCA: trial- and tester-adjusted testcross yield, moisture, maturity, lodging.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Turn it into $/acre (yield x price - drying - lodging loss) at prices the breeder sets.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Choose the plots: how many, which families, which siblings, and what that costs in breadth.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Prove it the only honest way: predict each year's new families from earlier years only.</a:t>
            </a:r>
          </a:p>
        </p:txBody>
      </p:sp>
    </p:spTree>
    <p:extLst>
      <p:ext uri="{BB962C8B-B14F-4D97-AF65-F5344CB8AC3E}">
        <p14:creationId xmlns:p14="http://schemas.microsoft.com/office/powerpoint/2010/main" val="3942154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810FF1-43CC-99F3-0F64-E9460EBE4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Python: numpy, pandas, scikit-learn. The model trains from sufficient statistics.</a:t>
            </a:r>
          </a:p>
          <a:p>
            <a:pPr>
              <a:spcAft>
                <a:spcPts val="800"/>
              </a:spcAft>
              <a:defRPr sz="1900" b="0">
                <a:solidFill>
                  <a:srgbClr val="555555"/>
                </a:solidFill>
              </a:defRPr>
            </a:pPr>
            <a:r>
              <a:t>    - Full dataset (1.07M plots, 153k genotyped lines x 2,911 markers): about 5 minutes on a laptop.</a:t>
            </a:r>
          </a:p>
          <a:p>
            <a:pPr>
              <a:spcAft>
                <a:spcPts val="800"/>
              </a:spcAft>
              <a:defRPr sz="1900" b="0">
                <a:solidFill>
                  <a:srgbClr val="555555"/>
                </a:solidFill>
              </a:defRPr>
            </a:pPr>
            <a:r>
              <a:t>    - Anvil (RCAC) for the heavy runs; a synthetic judge-mode program runs end to end in about ten seconds.</a:t>
            </a:r>
          </a:p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React + TypeScript + Vite, installable web app: the demo works with no network.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Hosted at promaize.stipe.app; every state is a URL (budget, family limit, prices).</a:t>
            </a:r>
          </a:p>
        </p:txBody>
      </p:sp>
    </p:spTree>
    <p:extLst>
      <p:ext uri="{BB962C8B-B14F-4D97-AF65-F5344CB8AC3E}">
        <p14:creationId xmlns:p14="http://schemas.microsoft.com/office/powerpoint/2010/main" val="27646210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5D0F0-7AFF-51FA-504D-52222D91C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Technical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4907139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Two questions, two models</a:t>
            </a:r>
          </a:p>
          <a:p>
            <a:pPr>
              <a:spcAft>
                <a:spcPts val="800"/>
              </a:spcAft>
              <a:defRPr sz="1800" b="0">
                <a:solidFill>
                  <a:srgbClr val="222222"/>
                </a:solidFill>
              </a:defRPr>
            </a:pPr>
            <a:r>
              <a:t>Family mean &lt;- what the parents passed on (the family's mean genotype; ridge, recent years weighted up).</a:t>
            </a:r>
          </a:p>
          <a:p>
            <a:pPr>
              <a:spcAft>
                <a:spcPts val="800"/>
              </a:spcAft>
              <a:defRPr sz="1800" b="0">
                <a:solidFill>
                  <a:srgbClr val="222222"/>
                </a:solidFill>
              </a:defRPr>
            </a:pPr>
            <a:r>
              <a:t>Sibling differences &lt;- which parental segments each line inherited (ridge on within-family deviations).</a:t>
            </a:r>
          </a:p>
          <a:p>
            <a:pPr>
              <a:spcAft>
                <a:spcPts val="800"/>
              </a:spcAft>
              <a:defRPr sz="1800" b="0">
                <a:solidFill>
                  <a:srgbClr val="222222"/>
                </a:solidFill>
              </a:defRPr>
            </a:pPr>
            <a:r>
              <a:t>Tester effect removed as a BLUP: advance lines, not testers.</a:t>
            </a:r>
          </a:p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Baselines: environmental means, pedigree BLUP, standard GBLUP.</a:t>
            </a:r>
          </a:p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Broad-acre, tested: location response predicted at r = 0.03 (82,790 held-out plots).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095847" y="2087878"/>
          <a:ext cx="5333847" cy="435864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  <p:extLst>
      <p:ext uri="{BB962C8B-B14F-4D97-AF65-F5344CB8AC3E}">
        <p14:creationId xmlns:p14="http://schemas.microsoft.com/office/powerpoint/2010/main" val="198328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8617C-F6D2-00FF-0222-FC8355C6C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Demo/Prototype</a:t>
            </a:r>
          </a:p>
        </p:txBody>
      </p:sp>
      <p:pic>
        <p:nvPicPr>
          <p:cNvPr id="3" name="Picture 2" descr="1-defa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087878"/>
            <a:ext cx="6242307" cy="39014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6080760"/>
            <a:ext cx="10667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222222"/>
                </a:solidFill>
              </a:defRPr>
            </a:pPr>
            <a:r>
              <a:t>Live: promaize.stipe.app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78627" y="2087878"/>
            <a:ext cx="4151068" cy="3901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222222"/>
                </a:solidFill>
              </a:defRPr>
            </a:pPr>
            <a:r>
              <a:t>In the order we show it</a:t>
            </a:r>
          </a:p>
          <a:p>
            <a:pPr>
              <a:spcAft>
                <a:spcPts val="800"/>
              </a:spcAft>
              <a:defRPr sz="1600" b="0">
                <a:solidFill>
                  <a:srgbClr val="222222"/>
                </a:solidFill>
              </a:defRPr>
            </a:pPr>
            <a:r>
              <a:t>The strip: every number from seasons the model never saw.</a:t>
            </a:r>
          </a:p>
          <a:p>
            <a:pPr>
              <a:spcAft>
                <a:spcPts val="800"/>
              </a:spcAft>
              <a:defRPr sz="1600" b="0">
                <a:solidFill>
                  <a:srgbClr val="222222"/>
                </a:solidFill>
              </a:defRPr>
            </a:pPr>
            <a:r>
              <a:t>What 2008 actually said: the ranking, scored on the real field.</a:t>
            </a:r>
          </a:p>
          <a:p>
            <a:pPr>
              <a:spcAft>
                <a:spcPts val="800"/>
              </a:spcAft>
              <a:defRPr sz="1600" b="0">
                <a:solidFill>
                  <a:srgbClr val="222222"/>
                </a:solidFill>
              </a:defRPr>
            </a:pPr>
            <a:r>
              <a:t>Which way to spend the plots: six rules, six seasons.</a:t>
            </a:r>
          </a:p>
          <a:p>
            <a:pPr>
              <a:spcAft>
                <a:spcPts val="800"/>
              </a:spcAft>
              <a:defRPr sz="1600" b="0">
                <a:solidFill>
                  <a:srgbClr val="222222"/>
                </a:solidFill>
              </a:defRPr>
            </a:pPr>
            <a:r>
              <a:t>The list: every line with $/acre, 90% band, confidence; CSV.</a:t>
            </a:r>
          </a:p>
          <a:p>
            <a:pPr>
              <a:spcAft>
                <a:spcPts val="800"/>
              </a:spcAft>
              <a:defRPr sz="1600" b="0">
                <a:solidFill>
                  <a:srgbClr val="222222"/>
                </a:solidFill>
              </a:defRPr>
            </a:pPr>
            <a:r>
              <a:t>Allocation: rank all lines, or the same share per family.</a:t>
            </a:r>
          </a:p>
          <a:p>
            <a:pPr>
              <a:spcAft>
                <a:spcPts val="800"/>
              </a:spcAft>
              <a:defRPr sz="1600" b="0">
                <a:solidFill>
                  <a:srgbClr val="222222"/>
                </a:solidFill>
              </a:defRPr>
            </a:pPr>
            <a:r>
              <a:t>How much to trust this: forward tests, baselines, bands.</a:t>
            </a:r>
          </a:p>
          <a:p>
            <a:pPr>
              <a:spcAft>
                <a:spcPts val="800"/>
              </a:spcAft>
              <a:defRPr sz="1600" b="1">
                <a:solidFill>
                  <a:srgbClr val="222222"/>
                </a:solidFill>
              </a:defRPr>
            </a:pPr>
            <a:r>
              <a:t>Works offline, on a phone; every state is a URL.</a:t>
            </a:r>
          </a:p>
        </p:txBody>
      </p:sp>
    </p:spTree>
    <p:extLst>
      <p:ext uri="{BB962C8B-B14F-4D97-AF65-F5344CB8AC3E}">
        <p14:creationId xmlns:p14="http://schemas.microsoft.com/office/powerpoint/2010/main" val="17466131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564CE-24B3-E3D1-4883-CE4F0AC3A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Business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Same plots (30% of lines), six ways, scored on what the field paid, 2003-2008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62000" y="2590798"/>
          <a:ext cx="836347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016"/>
                <a:gridCol w="1578818"/>
                <a:gridCol w="1578818"/>
                <a:gridCol w="1578818"/>
              </a:tblGrid>
              <a:tr h="54864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Rule</a:t>
                      </a:r>
                    </a:p>
                  </a:txBody>
                  <a:tcPr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Realised $/acre over random (6-year mean)</a:t>
                      </a:r>
                    </a:p>
                  </a:txBody>
                  <a:tcPr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in 2008</a:t>
                      </a:r>
                    </a:p>
                  </a:txBody>
                  <a:tcPr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Real top 10% kept</a:t>
                      </a:r>
                    </a:p>
                  </a:txBody>
                  <a:tcPr>
                    <a:solidFill>
                      <a:srgbClr val="2E7D5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22222"/>
                          </a:solidFill>
                        </a:defRPr>
                      </a:pPr>
                      <a:r>
                        <a:t>ProMaize, rank by $/acre</a:t>
                      </a:r>
                    </a:p>
                  </a:txBody>
                  <a:tcPr>
                    <a:solidFill>
                      <a:srgbClr val="DD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22222"/>
                          </a:solidFill>
                        </a:defRPr>
                      </a:pPr>
                      <a:r>
                        <a:t>$8.8</a:t>
                      </a:r>
                    </a:p>
                  </a:txBody>
                  <a:tcPr>
                    <a:solidFill>
                      <a:srgbClr val="DD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22222"/>
                          </a:solidFill>
                        </a:defRPr>
                      </a:pPr>
                      <a:r>
                        <a:t>$5.1</a:t>
                      </a:r>
                    </a:p>
                  </a:txBody>
                  <a:tcPr>
                    <a:solidFill>
                      <a:srgbClr val="DD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22222"/>
                          </a:solidFill>
                        </a:defRPr>
                      </a:pPr>
                      <a:r>
                        <a:t>41%</a:t>
                      </a:r>
                    </a:p>
                  </a:txBody>
                  <a:tcPr>
                    <a:solidFill>
                      <a:srgbClr val="DDEEE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ProMaize, rank by bushels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$8.5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$4.6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41%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ProMaize, same share of every family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$5.5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$5.0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37%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standard GBLUP, rank by bushels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$5.5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$1.2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36%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ProMaize, $/acre, max 50 per family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$5.2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$4.2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37%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random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$0.0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$0.0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30%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2000" y="5141974"/>
            <a:ext cx="106676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22222"/>
                </a:solidFill>
              </a:defRPr>
            </a:pPr>
            <a:r>
              <a:t>In plots: to keep the real winners ProMaize keeps with 30% of lines, standard GBLUP had to plant 34% of them.</a:t>
            </a:r>
          </a:p>
          <a:p>
            <a:pPr>
              <a:spcAft>
                <a:spcPts val="800"/>
              </a:spcAft>
              <a:defRPr sz="1500" b="1">
                <a:solidFill>
                  <a:srgbClr val="222222"/>
                </a:solidFill>
              </a:defRPr>
            </a:pPr>
            <a:r>
              <a:t>Honest error bars: the 90% bands held 90% of real 2008 results.</a:t>
            </a:r>
          </a:p>
          <a:p>
            <a:pPr>
              <a:spcAft>
                <a:spcPts val="800"/>
              </a:spcAft>
              <a:defRPr sz="1500" b="1">
                <a:solidFill>
                  <a:srgbClr val="222222"/>
                </a:solidFill>
              </a:defRPr>
            </a:pPr>
            <a:r>
              <a:t>Recommendation for 2008: the same share of every family, markers pick the siblings. With pedigree this thin, breadth is nearly free: $0.08/acre for 138 families instead of 71.</a:t>
            </a:r>
          </a:p>
        </p:txBody>
      </p:sp>
    </p:spTree>
    <p:extLst>
      <p:ext uri="{BB962C8B-B14F-4D97-AF65-F5344CB8AC3E}">
        <p14:creationId xmlns:p14="http://schemas.microsoft.com/office/powerpoint/2010/main" val="15373578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6ACD3-AEB0-9A25-EBB9-8C8140DA5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74154-18AA-00A9-A1FD-53C8CF724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Location-specific placement once lines have multi-year records (today each line is tested once).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Choose crosses, not only lines: predict each family's mean and spread before it is made.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The program's own costs: plot, drying, and discount schedules in place of our defaults.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Multi-trait economic index with test weight and maturity windows per market.</a:t>
            </a:r>
          </a:p>
        </p:txBody>
      </p:sp>
    </p:spTree>
    <p:extLst>
      <p:ext uri="{BB962C8B-B14F-4D97-AF65-F5344CB8AC3E}">
        <p14:creationId xmlns:p14="http://schemas.microsoft.com/office/powerpoint/2010/main" val="41669045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5DF6D-11F6-FA6B-9584-2EAE5DD1C4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>
            <a:extLst>
              <a:ext uri="{FF2B5EF4-FFF2-40B4-BE49-F238E27FC236}">
                <a16:creationId xmlns:a16="http://schemas.microsoft.com/office/drawing/2014/main" id="{99B9C9E8-10FD-712C-A4F4-97D73C49E7A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2700" y="-7158"/>
            <a:ext cx="12179300" cy="6865158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FFC2C177-8759-B047-BAD3-E64E18B17928}"/>
              </a:ext>
            </a:extLst>
          </p:cNvPr>
          <p:cNvSpPr txBox="1">
            <a:spLocks/>
          </p:cNvSpPr>
          <p:nvPr/>
        </p:nvSpPr>
        <p:spPr>
          <a:xfrm>
            <a:off x="762000" y="715963"/>
            <a:ext cx="10641013" cy="118903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932742" fontAlgn="auto">
              <a:lnSpc>
                <a:spcPct val="100000"/>
              </a:lnSpc>
              <a:spcAft>
                <a:spcPts val="0"/>
              </a:spcAft>
            </a:pPr>
            <a:r>
              <a:rPr lang="en-US" sz="3200" b="1" spc="-50" dirty="0">
                <a:ln w="3175">
                  <a:noFill/>
                </a:ln>
                <a:solidFill>
                  <a:srgbClr val="008208"/>
                </a:solidFill>
                <a:latin typeface="Helvetica" pitchFamily="2" charset="0"/>
                <a:ea typeface="+mn-ea"/>
                <a:cs typeface="Segoe UI" pitchFamily="34" charset="0"/>
              </a:rPr>
              <a:t>THANK YOU, LEADERSHIP!</a:t>
            </a:r>
          </a:p>
        </p:txBody>
      </p:sp>
    </p:spTree>
    <p:extLst>
      <p:ext uri="{BB962C8B-B14F-4D97-AF65-F5344CB8AC3E}">
        <p14:creationId xmlns:p14="http://schemas.microsoft.com/office/powerpoint/2010/main" val="2930325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88C3A-00D1-AC50-66C7-717CDF2F7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YOU!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BA3972-533E-7678-ECA3-3BC3D810CDF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AND HAVE FUN!!!!!!!!!!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4DD40C-CB33-8DB9-335A-2483788DC32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882960" y="25603"/>
            <a:ext cx="6923605" cy="5760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9175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17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23042"/>
      </a:accent1>
      <a:accent2>
        <a:srgbClr val="3578AF"/>
      </a:accent2>
      <a:accent3>
        <a:srgbClr val="C4C4C4"/>
      </a:accent3>
      <a:accent4>
        <a:srgbClr val="A80B22"/>
      </a:accent4>
      <a:accent5>
        <a:srgbClr val="E2E2E2"/>
      </a:accent5>
      <a:accent6>
        <a:srgbClr val="2A618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tarter Template_Heritage Month Presentation" id="{910467CA-E581-43CB-A3F9-242953556B2E}" vid="{325629C9-8C54-4982-A5E7-91DBF3E63BF9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8" ma:contentTypeDescription="Create a new document." ma:contentTypeScope="" ma:versionID="22a266b9fa9a230c5a512669d8b298c3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eddc33fff6b14141ee5c74a0d29ea6a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2:lcf76f155ced4ddcb4097134ff3c332f" minOccurs="0"/>
                <xsd:element ref="ns4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lcf76f155ced4ddcb4097134ff3c332f" ma:index="24" nillable="true" ma:taxonomy="true" ma:internalName="lcf76f155ced4ddcb4097134ff3c332f" ma:taxonomyFieldName="MediaServiceAITags" ma:displayName="Image Tags" ma:readOnly="false" ma:fieldId="{5cf76f15-5ced-4ddc-b409-7134ff3c332f}" ma:taxonomyMulti="true" ma:sspId="e385fb40-52d4-4fae-9c5b-3e8ff8a5878e" ma:termSetId="09814cd3-568e-4e90-9814-8d621ff8fb84" ma:anchorId="00000000-0000-0000-0000-000000000000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5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lcf76f155ced4ddcb4097134ff3c332f xmlns="71af3243-3dd4-4a8d-8c0d-dd76da1f02a5">
      <Terms xmlns="http://schemas.microsoft.com/office/infopath/2007/PartnerControls"/>
    </lcf76f155ced4ddcb4097134ff3c332f>
    <TaxCatchAll xmlns="230e9df3-be65-4c73-a93b-d1236ebd677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A80AD4D6-2712-4EC3-A727-A5652AD67F9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704BC66-A771-492B-8E79-E3C5E33B71F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73ACE82-BD1C-4CC4-B9C6-7097502B70B7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>
  <clbl:label id="{72f988bf-86f1-41af-91ab-2d7cd011db47}" enabled="0" method="" siteId="{72f988bf-86f1-41af-91ab-2d7cd011db4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Starter Template_Heritage Month Presentation</Template>
  <TotalTime>0</TotalTime>
  <Words>42</Words>
  <Application>Microsoft Office PowerPoint</Application>
  <PresentationFormat>Widescreen</PresentationFormat>
  <Paragraphs>15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Georgia</vt:lpstr>
      <vt:lpstr>Helvetica</vt:lpstr>
      <vt:lpstr>Office Theme</vt:lpstr>
      <vt:lpstr>PowerPoint Presentation</vt:lpstr>
      <vt:lpstr>Team Intro/Logo</vt:lpstr>
      <vt:lpstr>Intro to the problem</vt:lpstr>
      <vt:lpstr>Analysis Goal</vt:lpstr>
      <vt:lpstr>Tech Stack</vt:lpstr>
      <vt:lpstr>Technical Approach</vt:lpstr>
      <vt:lpstr>Demo/Prototype</vt:lpstr>
      <vt:lpstr>Business Value</vt:lpstr>
      <vt:lpstr>Future Development</vt:lpstr>
      <vt:lpstr>PowerPoint Presentation</vt:lpstr>
      <vt:lpstr>THANK YOU!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2021-02-18T07:10:18Z</dcterms:created>
  <dcterms:modified xsi:type="dcterms:W3CDTF">2026-09-25T14:02:21Z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2c76c141-ac86-40e5-abf2-c6f60e474cee_Enabled">
    <vt:lpwstr>true</vt:lpwstr>
  </property>
  <property fmtid="{D5CDD505-2E9C-101B-9397-08002B2CF9AE}" pid="4" name="MSIP_Label_2c76c141-ac86-40e5-abf2-c6f60e474cee_SetDate">
    <vt:lpwstr>2024-10-31T19:16:17Z</vt:lpwstr>
  </property>
  <property fmtid="{D5CDD505-2E9C-101B-9397-08002B2CF9AE}" pid="5" name="MSIP_Label_2c76c141-ac86-40e5-abf2-c6f60e474cee_Method">
    <vt:lpwstr>Standard</vt:lpwstr>
  </property>
  <property fmtid="{D5CDD505-2E9C-101B-9397-08002B2CF9AE}" pid="6" name="MSIP_Label_2c76c141-ac86-40e5-abf2-c6f60e474cee_Name">
    <vt:lpwstr>2c76c141-ac86-40e5-abf2-c6f60e474cee</vt:lpwstr>
  </property>
  <property fmtid="{D5CDD505-2E9C-101B-9397-08002B2CF9AE}" pid="7" name="MSIP_Label_2c76c141-ac86-40e5-abf2-c6f60e474cee_SiteId">
    <vt:lpwstr>fcb2b37b-5da0-466b-9b83-0014b67a7c78</vt:lpwstr>
  </property>
  <property fmtid="{D5CDD505-2E9C-101B-9397-08002B2CF9AE}" pid="8" name="MSIP_Label_2c76c141-ac86-40e5-abf2-c6f60e474cee_ActionId">
    <vt:lpwstr>6bdae8a5-4f0a-4c25-bee6-493842b9c0c3</vt:lpwstr>
  </property>
  <property fmtid="{D5CDD505-2E9C-101B-9397-08002B2CF9AE}" pid="9" name="MSIP_Label_2c76c141-ac86-40e5-abf2-c6f60e474cee_ContentBits">
    <vt:lpwstr>2</vt:lpwstr>
  </property>
  <property fmtid="{D5CDD505-2E9C-101B-9397-08002B2CF9AE}" pid="10" name="MSIP_Label_a844c618-538c-404a-b2f6-f58b5e4f4fae_Enabled">
    <vt:lpwstr>true</vt:lpwstr>
  </property>
  <property fmtid="{D5CDD505-2E9C-101B-9397-08002B2CF9AE}" pid="11" name="MSIP_Label_a844c618-538c-404a-b2f6-f58b5e4f4fae_SetDate">
    <vt:lpwstr>2026-09-03T18:14:48Z</vt:lpwstr>
  </property>
  <property fmtid="{D5CDD505-2E9C-101B-9397-08002B2CF9AE}" pid="12" name="MSIP_Label_a844c618-538c-404a-b2f6-f58b5e4f4fae_Method">
    <vt:lpwstr>Privileged</vt:lpwstr>
  </property>
  <property fmtid="{D5CDD505-2E9C-101B-9397-08002B2CF9AE}" pid="13" name="MSIP_Label_a844c618-538c-404a-b2f6-f58b5e4f4fae_Name">
    <vt:lpwstr>Public</vt:lpwstr>
  </property>
  <property fmtid="{D5CDD505-2E9C-101B-9397-08002B2CF9AE}" pid="14" name="MSIP_Label_a844c618-538c-404a-b2f6-f58b5e4f4fae_SiteId">
    <vt:lpwstr>41eb501a-f671-4ce0-a5bf-b64168c3705f</vt:lpwstr>
  </property>
  <property fmtid="{D5CDD505-2E9C-101B-9397-08002B2CF9AE}" pid="15" name="MSIP_Label_a844c618-538c-404a-b2f6-f58b5e4f4fae_ActionId">
    <vt:lpwstr>cce40bb2-6d52-482c-9366-826e94f5ca70</vt:lpwstr>
  </property>
  <property fmtid="{D5CDD505-2E9C-101B-9397-08002B2CF9AE}" pid="16" name="MSIP_Label_a844c618-538c-404a-b2f6-f58b5e4f4fae_ContentBits">
    <vt:lpwstr>0</vt:lpwstr>
  </property>
  <property fmtid="{D5CDD505-2E9C-101B-9397-08002B2CF9AE}" pid="17" name="MSIP_Label_a844c618-538c-404a-b2f6-f58b5e4f4fae_Tag">
    <vt:lpwstr>50, 0, 1, 1</vt:lpwstr>
  </property>
</Properties>
</file>